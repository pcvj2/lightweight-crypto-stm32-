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2"/>
  </p:notesMasterIdLst>
  <p:sldIdLst>
    <p:sldId id="256" r:id="rId2"/>
    <p:sldId id="313" r:id="rId3"/>
    <p:sldId id="315" r:id="rId4"/>
    <p:sldId id="316" r:id="rId5"/>
    <p:sldId id="317" r:id="rId6"/>
    <p:sldId id="319" r:id="rId7"/>
    <p:sldId id="320" r:id="rId8"/>
    <p:sldId id="321" r:id="rId9"/>
    <p:sldId id="322" r:id="rId10"/>
    <p:sldId id="314" r:id="rId11"/>
  </p:sldIdLst>
  <p:sldSz cx="9144000" cy="5143500" type="screen16x9"/>
  <p:notesSz cx="6858000" cy="9144000"/>
  <p:embeddedFontLst>
    <p:embeddedFont>
      <p:font typeface="Archivo" panose="020B060402020202020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E0DC"/>
    <a:srgbClr val="0D8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D36E89-60E5-4A9F-AE96-0391B3B8F3A7}">
  <a:tblStyle styleId="{8DD36E89-60E5-4A9F-AE96-0391B3B8F3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71782AD-EB1D-482E-90AC-441F98089C8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31" d="100"/>
          <a:sy n="131" d="100"/>
        </p:scale>
        <p:origin x="69" y="8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150" y="1424638"/>
            <a:ext cx="5637300" cy="17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150" y="3243063"/>
            <a:ext cx="4528800" cy="475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37901" y="3243079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1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400"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l="39171" r="5368"/>
          <a:stretch/>
        </p:blipFill>
        <p:spPr>
          <a:xfrm>
            <a:off x="7719024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 rot="10800000">
            <a:off x="7719024" y="-1394796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 t="61776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/>
          <p:nvPr/>
        </p:nvSpPr>
        <p:spPr>
          <a:xfrm rot="-5400000" flipH="1">
            <a:off x="6164623" y="-2882478"/>
            <a:ext cx="4099350" cy="401935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ubTitle" idx="1"/>
          </p:nvPr>
        </p:nvSpPr>
        <p:spPr>
          <a:xfrm>
            <a:off x="872900" y="1710151"/>
            <a:ext cx="2259300" cy="8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ubTitle" idx="2"/>
          </p:nvPr>
        </p:nvSpPr>
        <p:spPr>
          <a:xfrm>
            <a:off x="3442351" y="1710151"/>
            <a:ext cx="2259300" cy="8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subTitle" idx="3"/>
          </p:nvPr>
        </p:nvSpPr>
        <p:spPr>
          <a:xfrm>
            <a:off x="872900" y="3135650"/>
            <a:ext cx="2259300" cy="8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ubTitle" idx="4"/>
          </p:nvPr>
        </p:nvSpPr>
        <p:spPr>
          <a:xfrm>
            <a:off x="3442349" y="3135650"/>
            <a:ext cx="2259300" cy="8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subTitle" idx="5"/>
          </p:nvPr>
        </p:nvSpPr>
        <p:spPr>
          <a:xfrm>
            <a:off x="6011798" y="1710151"/>
            <a:ext cx="2259300" cy="8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ubTitle" idx="6"/>
          </p:nvPr>
        </p:nvSpPr>
        <p:spPr>
          <a:xfrm>
            <a:off x="6011798" y="3135650"/>
            <a:ext cx="2259300" cy="8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7"/>
          </p:nvPr>
        </p:nvSpPr>
        <p:spPr>
          <a:xfrm>
            <a:off x="872903" y="1381625"/>
            <a:ext cx="225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subTitle" idx="8"/>
          </p:nvPr>
        </p:nvSpPr>
        <p:spPr>
          <a:xfrm>
            <a:off x="3442352" y="1381625"/>
            <a:ext cx="225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ubTitle" idx="9"/>
          </p:nvPr>
        </p:nvSpPr>
        <p:spPr>
          <a:xfrm>
            <a:off x="6011797" y="1381625"/>
            <a:ext cx="225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3"/>
          </p:nvPr>
        </p:nvSpPr>
        <p:spPr>
          <a:xfrm>
            <a:off x="872903" y="2803907"/>
            <a:ext cx="225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ubTitle" idx="14"/>
          </p:nvPr>
        </p:nvSpPr>
        <p:spPr>
          <a:xfrm>
            <a:off x="3442352" y="2803907"/>
            <a:ext cx="225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subTitle" idx="15"/>
          </p:nvPr>
        </p:nvSpPr>
        <p:spPr>
          <a:xfrm>
            <a:off x="6011797" y="2803907"/>
            <a:ext cx="2259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 rotWithShape="1">
          <a:blip r:embed="rId2">
            <a:alphaModFix/>
          </a:blip>
          <a:srcRect t="61776"/>
          <a:stretch/>
        </p:blipFill>
        <p:spPr>
          <a:xfrm>
            <a:off x="25" y="4344050"/>
            <a:ext cx="9144003" cy="79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/>
          <p:nvPr/>
        </p:nvSpPr>
        <p:spPr>
          <a:xfrm rot="5400000" flipH="1">
            <a:off x="-1744899" y="4063103"/>
            <a:ext cx="5215056" cy="5113284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/>
          <p:cNvPicPr preferRelativeResize="0"/>
          <p:nvPr/>
        </p:nvPicPr>
        <p:blipFill rotWithShape="1">
          <a:blip r:embed="rId2">
            <a:alphaModFix/>
          </a:blip>
          <a:srcRect t="10127" b="45416"/>
          <a:stretch/>
        </p:blipFill>
        <p:spPr>
          <a:xfrm rot="5400000">
            <a:off x="5492132" y="1594201"/>
            <a:ext cx="5380101" cy="195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2">
            <a:alphaModFix/>
          </a:blip>
          <a:srcRect t="10127" b="45416"/>
          <a:stretch/>
        </p:blipFill>
        <p:spPr>
          <a:xfrm rot="-5400000" flipH="1">
            <a:off x="-1728233" y="1594201"/>
            <a:ext cx="5380101" cy="19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 rotWithShape="1">
          <a:blip r:embed="rId2">
            <a:alphaModFix/>
          </a:blip>
          <a:srcRect l="39171" r="5368"/>
          <a:stretch/>
        </p:blipFill>
        <p:spPr>
          <a:xfrm>
            <a:off x="6138774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/>
          <p:nvPr/>
        </p:nvSpPr>
        <p:spPr>
          <a:xfrm flipH="1">
            <a:off x="5785556" y="2848489"/>
            <a:ext cx="4270815" cy="4187470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73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hreatmap.checkpoin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ctrTitle"/>
          </p:nvPr>
        </p:nvSpPr>
        <p:spPr>
          <a:xfrm>
            <a:off x="911150" y="1424638"/>
            <a:ext cx="5637300" cy="17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Securing Embedded Systems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06" name="Google Shape;206;p39"/>
          <p:cNvSpPr txBox="1">
            <a:spLocks noGrp="1"/>
          </p:cNvSpPr>
          <p:nvPr>
            <p:ph type="subTitle" idx="1"/>
          </p:nvPr>
        </p:nvSpPr>
        <p:spPr>
          <a:xfrm>
            <a:off x="911150" y="3243063"/>
            <a:ext cx="4528800" cy="4758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Pavle Cvjetkovic F130812</a:t>
            </a:r>
            <a:endParaRPr dirty="0"/>
          </a:p>
        </p:txBody>
      </p:sp>
      <p:pic>
        <p:nvPicPr>
          <p:cNvPr id="207" name="Google Shape;207;p39"/>
          <p:cNvPicPr preferRelativeResize="0"/>
          <p:nvPr/>
        </p:nvPicPr>
        <p:blipFill rotWithShape="1">
          <a:blip r:embed="rId3">
            <a:alphaModFix/>
          </a:blip>
          <a:srcRect l="39171" r="5368"/>
          <a:stretch/>
        </p:blipFill>
        <p:spPr>
          <a:xfrm>
            <a:off x="6153199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9"/>
          <p:cNvSpPr/>
          <p:nvPr/>
        </p:nvSpPr>
        <p:spPr>
          <a:xfrm rot="10800000">
            <a:off x="6153199" y="-1394796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88328E-23B2-F525-FF07-A80C3D256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54" y="285999"/>
            <a:ext cx="7704000" cy="572700"/>
          </a:xfrm>
        </p:spPr>
        <p:txBody>
          <a:bodyPr/>
          <a:lstStyle/>
          <a:p>
            <a:r>
              <a:rPr lang="en-GB" dirty="0"/>
              <a:t>Project Motivation</a:t>
            </a:r>
          </a:p>
        </p:txBody>
      </p:sp>
      <p:sp>
        <p:nvSpPr>
          <p:cNvPr id="4" name="Subtitle 5">
            <a:extLst>
              <a:ext uri="{FF2B5EF4-FFF2-40B4-BE49-F238E27FC236}">
                <a16:creationId xmlns:a16="http://schemas.microsoft.com/office/drawing/2014/main" id="{B5344ABE-26E8-D750-7221-864F88FBBE2C}"/>
              </a:ext>
            </a:extLst>
          </p:cNvPr>
          <p:cNvSpPr txBox="1">
            <a:spLocks/>
          </p:cNvSpPr>
          <p:nvPr/>
        </p:nvSpPr>
        <p:spPr>
          <a:xfrm>
            <a:off x="576655" y="1017725"/>
            <a:ext cx="3913415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1" dirty="0">
                <a:solidFill>
                  <a:srgbClr val="3A3E5F"/>
                </a:solidFill>
                <a:latin typeface="Poppins"/>
                <a:cs typeface="Poppins"/>
              </a:rPr>
              <a:t>Why Cybersecurity for Embedded Systems?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A638F-1C69-8607-FFE2-9BF473C4D3F8}"/>
              </a:ext>
            </a:extLst>
          </p:cNvPr>
          <p:cNvSpPr txBox="1"/>
          <p:nvPr/>
        </p:nvSpPr>
        <p:spPr>
          <a:xfrm>
            <a:off x="576654" y="1462462"/>
            <a:ext cx="391341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Rapid growth of embedded devices in critical applications: autonomous vehicles, drones, IoT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Increased exposure due to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Resource constraints make traditional methods unfeasible </a:t>
            </a:r>
          </a:p>
          <a:p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Project Relevance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Drones are used in policing and security and need protection for firmware and sensitive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Embedded platforms like STM32 are widely used and need efficient security solutions</a:t>
            </a:r>
          </a:p>
          <a:p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Security Goals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GB" sz="110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Encryption: </a:t>
            </a:r>
            <a:r>
              <a:rPr lang="en-GB" sz="1100" dirty="0">
                <a:solidFill>
                  <a:srgbClr val="3A3E5F"/>
                </a:solidFill>
                <a:latin typeface="Poppins"/>
                <a:cs typeface="Poppins"/>
                <a:sym typeface="Poppins"/>
              </a:rPr>
              <a:t>Prevent interception of private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GB" sz="110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Integrity: Detect firmware tampering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3A3E5F"/>
                </a:solidFill>
                <a:latin typeface="Poppins"/>
                <a:cs typeface="Poppins"/>
                <a:sym typeface="Poppins"/>
              </a:rPr>
              <a:t>Authentication: Ensure firmware origin with digital signatures</a:t>
            </a:r>
            <a:endParaRPr kumimoji="0" lang="en-GB" sz="1100" u="none" strike="noStrike" kern="0" cap="none" spc="0" normalizeH="0" baseline="0" noProof="0" dirty="0">
              <a:ln>
                <a:noFill/>
              </a:ln>
              <a:solidFill>
                <a:srgbClr val="3A3E5F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  <a:p>
            <a:endParaRPr lang="en-GB" sz="1200" dirty="0"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  <a:p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3A3E5F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  <a:p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3A3E5F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6" name="Picture 2" descr="Police Drone or a Law Enforcement Drone ...">
            <a:extLst>
              <a:ext uri="{FF2B5EF4-FFF2-40B4-BE49-F238E27FC236}">
                <a16:creationId xmlns:a16="http://schemas.microsoft.com/office/drawing/2014/main" id="{3516D5B9-D247-F999-EB87-427E51A6E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259" y="499212"/>
            <a:ext cx="284797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46071-AAD4-9E9E-91EA-21A32D023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284" y="2215543"/>
            <a:ext cx="2571921" cy="16677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309616-2354-2D7B-C1C1-9B4E059533F7}"/>
              </a:ext>
            </a:extLst>
          </p:cNvPr>
          <p:cNvSpPr txBox="1"/>
          <p:nvPr/>
        </p:nvSpPr>
        <p:spPr>
          <a:xfrm>
            <a:off x="4993757" y="3989894"/>
            <a:ext cx="3366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Global threat map shows active attack attempts. Embedded devices like drones and IoT nodes are becoming increasingly vulnerable.</a:t>
            </a:r>
          </a:p>
        </p:txBody>
      </p:sp>
    </p:spTree>
    <p:extLst>
      <p:ext uri="{BB962C8B-B14F-4D97-AF65-F5344CB8AC3E}">
        <p14:creationId xmlns:p14="http://schemas.microsoft.com/office/powerpoint/2010/main" val="2321094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38F7-A114-B169-307B-CEC0D8DE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Algorithms Overview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9F379D5-BB01-4A05-72FB-6AF5DF4CD420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465971" y="1381625"/>
            <a:ext cx="2259300" cy="377100"/>
          </a:xfrm>
        </p:spPr>
        <p:txBody>
          <a:bodyPr/>
          <a:lstStyle/>
          <a:p>
            <a:r>
              <a:rPr lang="en-GB" dirty="0"/>
              <a:t>XTEA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3A9DE7C-B088-F17C-AE81-9E5FFEB4FDD2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3242210" y="1381625"/>
            <a:ext cx="2259300" cy="377100"/>
          </a:xfrm>
        </p:spPr>
        <p:txBody>
          <a:bodyPr/>
          <a:lstStyle/>
          <a:p>
            <a:r>
              <a:rPr lang="en-GB" dirty="0"/>
              <a:t>Blowfish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9E54592-01B6-C82A-DE90-592924D934F6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5911260" y="1381625"/>
            <a:ext cx="3054231" cy="377100"/>
          </a:xfrm>
        </p:spPr>
        <p:txBody>
          <a:bodyPr/>
          <a:lstStyle/>
          <a:p>
            <a:r>
              <a:rPr lang="en-GB" dirty="0"/>
              <a:t>SHA-256 + ECDSA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F6F460-3F04-BB1C-A521-65D5C1FB000D}"/>
              </a:ext>
            </a:extLst>
          </p:cNvPr>
          <p:cNvSpPr txBox="1"/>
          <p:nvPr/>
        </p:nvSpPr>
        <p:spPr>
          <a:xfrm>
            <a:off x="465968" y="1616149"/>
            <a:ext cx="23664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Lightweight symmetric cipher (64-bit block with 128-bit key)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Simple and small footprint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Great for memory-constrained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Used for benchmarking vs Blowfish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9C74F-AA01-467C-25A6-685AAC53E921}"/>
              </a:ext>
            </a:extLst>
          </p:cNvPr>
          <p:cNvSpPr txBox="1"/>
          <p:nvPr/>
        </p:nvSpPr>
        <p:spPr>
          <a:xfrm>
            <a:off x="3242205" y="1616149"/>
            <a:ext cx="23664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Symmetric cipher (64-bit block, variable key up to 448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More secure but more memory-intensive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Used in this project for encryption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Benchmarked vs XTEA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88D76-C7B7-B390-12C1-D57803D50FF3}"/>
              </a:ext>
            </a:extLst>
          </p:cNvPr>
          <p:cNvSpPr txBox="1"/>
          <p:nvPr/>
        </p:nvSpPr>
        <p:spPr>
          <a:xfrm>
            <a:off x="6061118" y="1616149"/>
            <a:ext cx="26846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SHA-256: Used for firmware integrity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Hash generated post build using PostBuild_hash.bat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Verified at runtime using </a:t>
            </a:r>
            <a:r>
              <a:rPr lang="en-GB" dirty="0" err="1"/>
              <a:t>FW_Hash_Verify</a:t>
            </a:r>
            <a:r>
              <a:rPr lang="en-GB" dirty="0"/>
              <a:t>()</a:t>
            </a:r>
          </a:p>
          <a:p>
            <a:r>
              <a:rPr lang="en-GB" b="1" dirty="0"/>
              <a:t>ECDSA (attempted):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Signature and key generation using OpenSSL</a:t>
            </a:r>
          </a:p>
        </p:txBody>
      </p:sp>
    </p:spTree>
    <p:extLst>
      <p:ext uri="{BB962C8B-B14F-4D97-AF65-F5344CB8AC3E}">
        <p14:creationId xmlns:p14="http://schemas.microsoft.com/office/powerpoint/2010/main" val="44561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94F88-F937-0EB9-D899-50EDCEE4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56" y="445025"/>
            <a:ext cx="8995143" cy="572700"/>
          </a:xfrm>
        </p:spPr>
        <p:txBody>
          <a:bodyPr/>
          <a:lstStyle/>
          <a:p>
            <a:r>
              <a:rPr lang="en-GB" dirty="0"/>
              <a:t>Performance Benchmarks: XTEA vs Blowfish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5C5071D-F296-52E1-E39A-9F508DC2B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940024"/>
              </p:ext>
            </p:extLst>
          </p:nvPr>
        </p:nvGraphicFramePr>
        <p:xfrm>
          <a:off x="436544" y="1017725"/>
          <a:ext cx="5422974" cy="2302856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283745">
                  <a:extLst>
                    <a:ext uri="{9D8B030D-6E8A-4147-A177-3AD203B41FA5}">
                      <a16:colId xmlns:a16="http://schemas.microsoft.com/office/drawing/2014/main" val="3540881416"/>
                    </a:ext>
                  </a:extLst>
                </a:gridCol>
                <a:gridCol w="1283745">
                  <a:extLst>
                    <a:ext uri="{9D8B030D-6E8A-4147-A177-3AD203B41FA5}">
                      <a16:colId xmlns:a16="http://schemas.microsoft.com/office/drawing/2014/main" val="2779905625"/>
                    </a:ext>
                  </a:extLst>
                </a:gridCol>
                <a:gridCol w="1283745">
                  <a:extLst>
                    <a:ext uri="{9D8B030D-6E8A-4147-A177-3AD203B41FA5}">
                      <a16:colId xmlns:a16="http://schemas.microsoft.com/office/drawing/2014/main" val="1259913697"/>
                    </a:ext>
                  </a:extLst>
                </a:gridCol>
                <a:gridCol w="736985">
                  <a:extLst>
                    <a:ext uri="{9D8B030D-6E8A-4147-A177-3AD203B41FA5}">
                      <a16:colId xmlns:a16="http://schemas.microsoft.com/office/drawing/2014/main" val="3083249108"/>
                    </a:ext>
                  </a:extLst>
                </a:gridCol>
                <a:gridCol w="108021">
                  <a:extLst>
                    <a:ext uri="{9D8B030D-6E8A-4147-A177-3AD203B41FA5}">
                      <a16:colId xmlns:a16="http://schemas.microsoft.com/office/drawing/2014/main" val="1572798027"/>
                    </a:ext>
                  </a:extLst>
                </a:gridCol>
                <a:gridCol w="726733">
                  <a:extLst>
                    <a:ext uri="{9D8B030D-6E8A-4147-A177-3AD203B41FA5}">
                      <a16:colId xmlns:a16="http://schemas.microsoft.com/office/drawing/2014/main" val="3766680895"/>
                    </a:ext>
                  </a:extLst>
                </a:gridCol>
              </a:tblGrid>
              <a:tr h="546442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Model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 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Compilation Flag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 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Avg. Execution Time (µs)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Memory Utilisation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 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666213"/>
                  </a:ext>
                </a:extLst>
              </a:tr>
              <a:tr h="30987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Flash (KB)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RAM (KB)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9650298"/>
                  </a:ext>
                </a:extLst>
              </a:tr>
              <a:tr h="15036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XTEA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O0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77.46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28.82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2.58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10681"/>
                  </a:ext>
                </a:extLst>
              </a:tr>
              <a:tr h="15036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O3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27.52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23.63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2.58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018907"/>
                  </a:ext>
                </a:extLst>
              </a:tr>
              <a:tr h="15036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Blowfish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CE0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O0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30.72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33.66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6.69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265217"/>
                  </a:ext>
                </a:extLst>
              </a:tr>
              <a:tr h="15036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O3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5.42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32.01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6.69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839621"/>
                  </a:ext>
                </a:extLst>
              </a:tr>
              <a:tr h="15036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XTEA + SHA256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O0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147.50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34.83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2.75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813744"/>
                  </a:ext>
                </a:extLst>
              </a:tr>
              <a:tr h="15951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O3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96.11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29.66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2.75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512583"/>
                  </a:ext>
                </a:extLst>
              </a:tr>
              <a:tr h="15036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Blowfish + SHA256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CE0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O0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176.76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39.49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2.75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684968"/>
                  </a:ext>
                </a:extLst>
              </a:tr>
              <a:tr h="15951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>
                          <a:effectLst/>
                        </a:rPr>
                        <a:t>O3</a:t>
                      </a:r>
                      <a:endParaRPr lang="en-GB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89.78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37.83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2.75</a:t>
                      </a:r>
                      <a:endParaRPr lang="en-GB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1337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CDCD163-BDE4-DFA2-DBDD-E9FA8FEBC860}"/>
              </a:ext>
            </a:extLst>
          </p:cNvPr>
          <p:cNvSpPr txBox="1"/>
          <p:nvPr/>
        </p:nvSpPr>
        <p:spPr>
          <a:xfrm>
            <a:off x="383312" y="3392409"/>
            <a:ext cx="4023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Poppins" panose="00000500000000000000" pitchFamily="2" charset="0"/>
                <a:cs typeface="Poppins" panose="00000500000000000000" pitchFamily="2" charset="0"/>
              </a:rPr>
              <a:t>Values are averages over 100 iterations</a:t>
            </a:r>
          </a:p>
        </p:txBody>
      </p:sp>
      <p:pic>
        <p:nvPicPr>
          <p:cNvPr id="2054" name="Picture 6" descr="Output image">
            <a:extLst>
              <a:ext uri="{FF2B5EF4-FFF2-40B4-BE49-F238E27FC236}">
                <a16:creationId xmlns:a16="http://schemas.microsoft.com/office/drawing/2014/main" id="{8599DE5A-825F-BFAC-56E8-DA8B42280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970" y="1017725"/>
            <a:ext cx="3070065" cy="183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Output image">
            <a:extLst>
              <a:ext uri="{FF2B5EF4-FFF2-40B4-BE49-F238E27FC236}">
                <a16:creationId xmlns:a16="http://schemas.microsoft.com/office/drawing/2014/main" id="{02AFD391-4B4F-33F6-77F0-5A643E50B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326" y="2848239"/>
            <a:ext cx="1976605" cy="197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70FAA5-242E-EE1B-80F0-DCB38687ED2B}"/>
              </a:ext>
            </a:extLst>
          </p:cNvPr>
          <p:cNvSpPr txBox="1"/>
          <p:nvPr/>
        </p:nvSpPr>
        <p:spPr>
          <a:xfrm>
            <a:off x="478154" y="3710459"/>
            <a:ext cx="5517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Poppins" panose="00000500000000000000" pitchFamily="2" charset="0"/>
                <a:cs typeface="Poppins" panose="00000500000000000000" pitchFamily="2" charset="0"/>
              </a:rPr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Blowfish (O3): Performs fastest overall, but more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XTEA: Lower memory, decent speed – ideal for minimal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SHA-256: Added a ~2× slower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Optimisation: (-O3): Showed a 5.6× performance boost for Blowfish</a:t>
            </a:r>
          </a:p>
        </p:txBody>
      </p:sp>
    </p:spTree>
    <p:extLst>
      <p:ext uri="{BB962C8B-B14F-4D97-AF65-F5344CB8AC3E}">
        <p14:creationId xmlns:p14="http://schemas.microsoft.com/office/powerpoint/2010/main" val="88107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5B7A-EDA3-DBFF-D94E-771209AF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445025"/>
            <a:ext cx="7934902" cy="572700"/>
          </a:xfrm>
        </p:spPr>
        <p:txBody>
          <a:bodyPr/>
          <a:lstStyle/>
          <a:p>
            <a:r>
              <a:rPr lang="en-GB" dirty="0"/>
              <a:t>Firmware Integrity Check with SHA-256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2CB65-8619-6D91-E4B7-6677BD87D584}"/>
              </a:ext>
            </a:extLst>
          </p:cNvPr>
          <p:cNvSpPr txBox="1"/>
          <p:nvPr/>
        </p:nvSpPr>
        <p:spPr>
          <a:xfrm>
            <a:off x="411126" y="1061799"/>
            <a:ext cx="36788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Firmware Hashing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Post-build script PostBuild_hash.bat generates the SHA-256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Digest appended to .bin file with padding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Verification on 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Upon initiation of the program,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FW_Hash_Verify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() (from STM32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CryptoLib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) is called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Computes the firmware hash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Compares it to the stored digest in Flash memory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Hash mismatch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Program halts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Simulates rejection of tampered firmware</a:t>
            </a:r>
          </a:p>
        </p:txBody>
      </p:sp>
      <p:pic>
        <p:nvPicPr>
          <p:cNvPr id="3074" name="Picture 2" descr="PlantUML Diagram">
            <a:extLst>
              <a:ext uri="{FF2B5EF4-FFF2-40B4-BE49-F238E27FC236}">
                <a16:creationId xmlns:a16="http://schemas.microsoft.com/office/drawing/2014/main" id="{C43544F4-0B36-9FC8-DC38-6911A85B4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20898"/>
            <a:ext cx="2316697" cy="36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ashing - Free social media icons">
            <a:extLst>
              <a:ext uri="{FF2B5EF4-FFF2-40B4-BE49-F238E27FC236}">
                <a16:creationId xmlns:a16="http://schemas.microsoft.com/office/drawing/2014/main" id="{600749A8-5C50-C8D7-D353-F2175FEEC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109" y="1969357"/>
            <a:ext cx="1726543" cy="172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93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31A1A6-4BF1-3B91-8F94-FF64099A0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GB" dirty="0"/>
              <a:t>Secure Drone Mission Phases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7C5C10-6B1D-A02A-6D3F-3C69CE9B93FD}"/>
              </a:ext>
            </a:extLst>
          </p:cNvPr>
          <p:cNvSpPr txBox="1">
            <a:spLocks/>
          </p:cNvSpPr>
          <p:nvPr/>
        </p:nvSpPr>
        <p:spPr>
          <a:xfrm>
            <a:off x="636899" y="1655541"/>
            <a:ext cx="2514434" cy="8703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Reads STM32F7’s 96-bit</a:t>
            </a:r>
          </a:p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factory UID using HAL:</a:t>
            </a:r>
          </a:p>
          <a:p>
            <a:r>
              <a:rPr lang="nl-NL" sz="1100" dirty="0">
                <a:latin typeface="Poppins" panose="00000500000000000000" pitchFamily="2" charset="0"/>
                <a:cs typeface="Poppins" panose="00000500000000000000" pitchFamily="2" charset="0"/>
              </a:rPr>
              <a:t>uid[0] = HAL_GetUIDw0();</a:t>
            </a:r>
          </a:p>
          <a:p>
            <a:r>
              <a:rPr lang="nl-NL" sz="1100" dirty="0">
                <a:latin typeface="Poppins" panose="00000500000000000000" pitchFamily="2" charset="0"/>
                <a:cs typeface="Poppins" panose="00000500000000000000" pitchFamily="2" charset="0"/>
              </a:rPr>
              <a:t>uid[1] = HAL_GetUIDw1();</a:t>
            </a:r>
          </a:p>
          <a:p>
            <a:r>
              <a:rPr lang="nl-NL" sz="1100" dirty="0">
                <a:latin typeface="Poppins" panose="00000500000000000000" pitchFamily="2" charset="0"/>
                <a:cs typeface="Poppins" panose="00000500000000000000" pitchFamily="2" charset="0"/>
              </a:rPr>
              <a:t>uid[2] = HAL_GetUIDw2();</a:t>
            </a: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6224859C-2AE5-8677-C3E1-E8C526A6991E}"/>
              </a:ext>
            </a:extLst>
          </p:cNvPr>
          <p:cNvSpPr txBox="1">
            <a:spLocks/>
          </p:cNvSpPr>
          <p:nvPr/>
        </p:nvSpPr>
        <p:spPr>
          <a:xfrm>
            <a:off x="3279080" y="1710151"/>
            <a:ext cx="2259300" cy="256455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Random 6-digit number generated using STM32 RNG </a:t>
            </a: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Blowfish encrypts each new plate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Simulates surveillance scenario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27A5A629-D53C-B96F-6079-E33313E1ADA2}"/>
              </a:ext>
            </a:extLst>
          </p:cNvPr>
          <p:cNvSpPr txBox="1">
            <a:spLocks/>
          </p:cNvSpPr>
          <p:nvPr/>
        </p:nvSpPr>
        <p:spPr>
          <a:xfrm>
            <a:off x="616085" y="3468126"/>
            <a:ext cx="2514434" cy="8703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UID split into two 64-bit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Encrypted with Blowfish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Transmitted to Ground Station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74A9ABC-CEC5-8D2B-BD60-EE0EB2B25C09}"/>
              </a:ext>
            </a:extLst>
          </p:cNvPr>
          <p:cNvSpPr txBox="1">
            <a:spLocks/>
          </p:cNvSpPr>
          <p:nvPr/>
        </p:nvSpPr>
        <p:spPr>
          <a:xfrm>
            <a:off x="5862327" y="1722243"/>
            <a:ext cx="2841331" cy="8703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Static message encrypted:</a:t>
            </a:r>
          </a:p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"Amazing Ost \o/"</a:t>
            </a: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Sent over UART, decrypted by Python Ground Station 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Demonstrate secure message delivery</a:t>
            </a:r>
          </a:p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2" descr="Processor Icon Hardware Line Style Free 6793675 Vector Art ...">
            <a:extLst>
              <a:ext uri="{FF2B5EF4-FFF2-40B4-BE49-F238E27FC236}">
                <a16:creationId xmlns:a16="http://schemas.microsoft.com/office/drawing/2014/main" id="{D77C9E29-36C7-7C29-B9D6-5F4D477FC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0415" y1="36612" x2="49741" y2="62842"/>
                        <a14:foregroundMark x1="46632" y1="42623" x2="38860" y2="355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318" y="2515008"/>
            <a:ext cx="1167255" cy="110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ar - Free transport icons">
            <a:extLst>
              <a:ext uri="{FF2B5EF4-FFF2-40B4-BE49-F238E27FC236}">
                <a16:creationId xmlns:a16="http://schemas.microsoft.com/office/drawing/2014/main" id="{39FB0222-BFC6-04E1-300A-5668B4CEF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205" y="2516787"/>
            <a:ext cx="951339" cy="9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Envelope Icon | Line Iconpack | IconsMind">
            <a:extLst>
              <a:ext uri="{FF2B5EF4-FFF2-40B4-BE49-F238E27FC236}">
                <a16:creationId xmlns:a16="http://schemas.microsoft.com/office/drawing/2014/main" id="{777AD1FA-8E3C-A16E-88A7-A0FE72393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355" y="2428277"/>
            <a:ext cx="954265" cy="95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53E03CBC-878B-F743-F370-7308423F12D5}"/>
              </a:ext>
            </a:extLst>
          </p:cNvPr>
          <p:cNvSpPr/>
          <p:nvPr/>
        </p:nvSpPr>
        <p:spPr>
          <a:xfrm>
            <a:off x="2992720" y="3006030"/>
            <a:ext cx="612232" cy="62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BC21E8F-C293-473B-CA1F-68BDF90130AC}"/>
              </a:ext>
            </a:extLst>
          </p:cNvPr>
          <p:cNvSpPr/>
          <p:nvPr/>
        </p:nvSpPr>
        <p:spPr>
          <a:xfrm>
            <a:off x="5489585" y="2983819"/>
            <a:ext cx="612232" cy="62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60B9C53-84E4-547D-70A0-E36B1835A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97" y="990206"/>
            <a:ext cx="2792210" cy="9266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6E36F5-CFF0-48C8-D78D-2245D8092F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0108" y="998012"/>
            <a:ext cx="5633192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1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DBC4-BE06-7770-9A8D-06102182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Decryption Pipeline on Ground Station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BDFB4-D7AD-BF4E-F65A-A4F0DB58C66A}"/>
              </a:ext>
            </a:extLst>
          </p:cNvPr>
          <p:cNvSpPr txBox="1"/>
          <p:nvPr/>
        </p:nvSpPr>
        <p:spPr>
          <a:xfrm>
            <a:off x="867679" y="1074586"/>
            <a:ext cx="337059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UART Reception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STM32 transmits Blowfish-encrypted 64-bit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Baud rate: 115200, using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HAL_UART_Transmit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()</a:t>
            </a:r>
          </a:p>
          <a:p>
            <a:r>
              <a:rPr lang="en-GB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DLL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Original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blowfish.c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/h compiled into blowfish.dll using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gcc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–shared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Enables same encryption logic on PC</a:t>
            </a:r>
          </a:p>
          <a:p>
            <a:r>
              <a:rPr lang="en-GB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Python Receiver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Pyserial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receives incoming ciphertext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Ctypes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loads blowfish.dll for decryption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Output data is live-decoded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GB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78AF7-05DB-2FB6-5162-4049D912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797" y="2958798"/>
            <a:ext cx="2854142" cy="1484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1DFC7C-44AC-F05E-7409-A1FEADFBF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52" y="1147157"/>
            <a:ext cx="3233032" cy="154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36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EC03-13D0-DBE2-87E7-B979BDD84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21" y="445025"/>
            <a:ext cx="8710160" cy="572700"/>
          </a:xfrm>
        </p:spPr>
        <p:txBody>
          <a:bodyPr/>
          <a:lstStyle/>
          <a:p>
            <a:r>
              <a:rPr lang="en-GB" dirty="0" err="1"/>
              <a:t>Beakman</a:t>
            </a:r>
            <a:r>
              <a:rPr lang="en-GB" dirty="0"/>
              <a:t> Challenge – Encrypted Telemetry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874C8-79E9-71FA-4212-CC781F07B966}"/>
              </a:ext>
            </a:extLst>
          </p:cNvPr>
          <p:cNvSpPr txBox="1"/>
          <p:nvPr/>
        </p:nvSpPr>
        <p:spPr>
          <a:xfrm>
            <a:off x="413816" y="1181378"/>
            <a:ext cx="441848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Telemetry Loop (on STM32)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Every second Updates:	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Latitude, Longitude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Altitude, Roll, Pitch, Yaw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Battery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Encrypts each metric with Blowfish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Sends encrypted blocks over UART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3"/>
            <a:r>
              <a:rPr lang="en-GB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Python Script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Receives encrypted telemetry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Decrypts each field using blowfish.dll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Logs and plots values live using Matplotlib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B6601-4AB7-6C65-8D3E-1D548D267096}"/>
              </a:ext>
            </a:extLst>
          </p:cNvPr>
          <p:cNvSpPr txBox="1"/>
          <p:nvPr/>
        </p:nvSpPr>
        <p:spPr>
          <a:xfrm>
            <a:off x="4929066" y="3180898"/>
            <a:ext cx="441848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Mission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At 10% battery the RETURN mode is triggered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Initiates Descent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Outputs “Drone landed. Mission complete.”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044654-10EC-6ECB-2A4C-A1DD597F9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04" y="1017725"/>
            <a:ext cx="2739669" cy="221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18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EE95-EFF3-70DE-5DE1-FEFA3EC9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476EE-5064-18E2-D7F0-F6F8DA26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15750"/>
            <a:ext cx="3199993" cy="3163800"/>
          </a:xfrm>
        </p:spPr>
        <p:txBody>
          <a:bodyPr/>
          <a:lstStyle/>
          <a:p>
            <a:pPr marL="152400" indent="0">
              <a:buNone/>
            </a:pPr>
            <a:r>
              <a:rPr lang="en-GB" sz="1800" b="1" dirty="0"/>
              <a:t>Key Takeaways</a:t>
            </a:r>
          </a:p>
          <a:p>
            <a:r>
              <a:rPr lang="en-GB" dirty="0">
                <a:solidFill>
                  <a:srgbClr val="000000"/>
                </a:solidFill>
              </a:rPr>
              <a:t>STM32767ZI shows to support lightweight cryptography</a:t>
            </a:r>
          </a:p>
          <a:p>
            <a:r>
              <a:rPr lang="en-GB" dirty="0">
                <a:solidFill>
                  <a:srgbClr val="000000"/>
                </a:solidFill>
              </a:rPr>
              <a:t>XTEA and Blowfish algorithms deployed and benchmarked</a:t>
            </a:r>
          </a:p>
          <a:p>
            <a:r>
              <a:rPr lang="en-GB" dirty="0">
                <a:solidFill>
                  <a:srgbClr val="000000"/>
                </a:solidFill>
              </a:rPr>
              <a:t>SHA-256 implemented for firmware integrity to simulate a secure boot</a:t>
            </a:r>
          </a:p>
          <a:p>
            <a:r>
              <a:rPr lang="en-GB" dirty="0">
                <a:solidFill>
                  <a:srgbClr val="000000"/>
                </a:solidFill>
              </a:rPr>
              <a:t>Encrypted communication over UART between STM32 and PC</a:t>
            </a:r>
          </a:p>
          <a:p>
            <a:r>
              <a:rPr lang="en-GB" dirty="0" err="1">
                <a:solidFill>
                  <a:srgbClr val="000000"/>
                </a:solidFill>
              </a:rPr>
              <a:t>Beakman</a:t>
            </a:r>
            <a:r>
              <a:rPr lang="en-GB" dirty="0">
                <a:solidFill>
                  <a:srgbClr val="000000"/>
                </a:solidFill>
              </a:rPr>
              <a:t> Challenge demonstrated real-time encryption, transmission, decryption and plotting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3CD6438-4AE4-DD42-DF56-37826879E263}"/>
              </a:ext>
            </a:extLst>
          </p:cNvPr>
          <p:cNvSpPr txBox="1">
            <a:spLocks/>
          </p:cNvSpPr>
          <p:nvPr/>
        </p:nvSpPr>
        <p:spPr>
          <a:xfrm>
            <a:off x="4572000" y="1215750"/>
            <a:ext cx="3199993" cy="31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152400" indent="0">
              <a:buFont typeface="Nunito Light"/>
              <a:buNone/>
            </a:pPr>
            <a:r>
              <a:rPr lang="en-GB" sz="1800" b="1" dirty="0"/>
              <a:t>Limitations</a:t>
            </a:r>
          </a:p>
          <a:p>
            <a:r>
              <a:rPr lang="en-GB" dirty="0">
                <a:solidFill>
                  <a:srgbClr val="000000"/>
                </a:solidFill>
              </a:rPr>
              <a:t>ECDSA integration not successful due to middleware issues</a:t>
            </a:r>
          </a:p>
          <a:p>
            <a:r>
              <a:rPr lang="en-GB" dirty="0">
                <a:solidFill>
                  <a:srgbClr val="000000"/>
                </a:solidFill>
              </a:rPr>
              <a:t>MPU/WRP not fully leveraged yet</a:t>
            </a:r>
          </a:p>
          <a:p>
            <a:pPr marL="152400" indent="0">
              <a:buNone/>
            </a:pPr>
            <a:r>
              <a:rPr lang="en-GB" sz="1800" b="1" dirty="0"/>
              <a:t>Future Work</a:t>
            </a:r>
          </a:p>
          <a:p>
            <a:r>
              <a:rPr lang="en-GB" dirty="0">
                <a:solidFill>
                  <a:srgbClr val="000000"/>
                </a:solidFill>
              </a:rPr>
              <a:t>Integrate full ECDSA firmware authentication</a:t>
            </a:r>
          </a:p>
          <a:p>
            <a:r>
              <a:rPr lang="en-GB" dirty="0">
                <a:solidFill>
                  <a:srgbClr val="000000"/>
                </a:solidFill>
              </a:rPr>
              <a:t>Use AES for modern cryptography algorithm</a:t>
            </a:r>
          </a:p>
          <a:p>
            <a:r>
              <a:rPr lang="en-GB" dirty="0">
                <a:solidFill>
                  <a:srgbClr val="000000"/>
                </a:solidFill>
              </a:rPr>
              <a:t>Apply tamper detection</a:t>
            </a:r>
          </a:p>
        </p:txBody>
      </p:sp>
    </p:spTree>
    <p:extLst>
      <p:ext uri="{BB962C8B-B14F-4D97-AF65-F5344CB8AC3E}">
        <p14:creationId xmlns:p14="http://schemas.microsoft.com/office/powerpoint/2010/main" val="96931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C91E-07D0-C388-DD4D-F7B983C4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F27882-9ED6-9A03-785C-533037155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0168" y="1297039"/>
            <a:ext cx="77636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Police Drone Use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Grepow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Blog – What Are Police Drones Used For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Live Cyber Threat Map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9191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Checkpoint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ThreatMap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real-time visualization of global cyberattacks useful for motivation slides.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Hashing Icon (for firmware integrity)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Flaticon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– Hashing Icon</a:t>
            </a:r>
          </a:p>
        </p:txBody>
      </p:sp>
    </p:spTree>
    <p:extLst>
      <p:ext uri="{BB962C8B-B14F-4D97-AF65-F5344CB8AC3E}">
        <p14:creationId xmlns:p14="http://schemas.microsoft.com/office/powerpoint/2010/main" val="1277319493"/>
      </p:ext>
    </p:extLst>
  </p:cSld>
  <p:clrMapOvr>
    <a:masterClrMapping/>
  </p:clrMapOvr>
</p:sld>
</file>

<file path=ppt/theme/theme1.xml><?xml version="1.0" encoding="utf-8"?>
<a:theme xmlns:a="http://schemas.openxmlformats.org/drawingml/2006/main" name="Cybersecurity Industry by Slidesgo">
  <a:themeElements>
    <a:clrScheme name="Simple Light">
      <a:dk1>
        <a:srgbClr val="3A3E5F"/>
      </a:dk1>
      <a:lt1>
        <a:srgbClr val="FFFFFF"/>
      </a:lt1>
      <a:dk2>
        <a:srgbClr val="E0E0E0"/>
      </a:dk2>
      <a:lt2>
        <a:srgbClr val="8ED835"/>
      </a:lt2>
      <a:accent1>
        <a:srgbClr val="0BA391"/>
      </a:accent1>
      <a:accent2>
        <a:srgbClr val="09607D"/>
      </a:accent2>
      <a:accent3>
        <a:srgbClr val="F8C430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761</Words>
  <Application>Microsoft Office PowerPoint</Application>
  <PresentationFormat>On-screen Show (16:9)</PresentationFormat>
  <Paragraphs>177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Nunito Light</vt:lpstr>
      <vt:lpstr>Poppins</vt:lpstr>
      <vt:lpstr>Arial</vt:lpstr>
      <vt:lpstr>Archivo</vt:lpstr>
      <vt:lpstr>Raleway</vt:lpstr>
      <vt:lpstr>Cybersecurity Industry by Slidesgo</vt:lpstr>
      <vt:lpstr>Securing Embedded Systems</vt:lpstr>
      <vt:lpstr>Project Motivation</vt:lpstr>
      <vt:lpstr>Algorithms Overview</vt:lpstr>
      <vt:lpstr>Performance Benchmarks: XTEA vs Blowfish</vt:lpstr>
      <vt:lpstr>Firmware Integrity Check with SHA-256</vt:lpstr>
      <vt:lpstr>Secure Drone Mission Phases</vt:lpstr>
      <vt:lpstr>Decryption Pipeline on Ground Station</vt:lpstr>
      <vt:lpstr>Beakman Challenge – Encrypted Telemetry</vt:lpstr>
      <vt:lpstr>Conclusion</vt:lpstr>
      <vt:lpstr>Images Used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 Cvjetkovic</dc:creator>
  <cp:lastModifiedBy>(s) Paul Cvjetkovic</cp:lastModifiedBy>
  <cp:revision>6</cp:revision>
  <dcterms:modified xsi:type="dcterms:W3CDTF">2025-05-22T12:20:34Z</dcterms:modified>
</cp:coreProperties>
</file>